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8"/>
  </p:notesMasterIdLst>
  <p:sldIdLst>
    <p:sldId id="266" r:id="rId2"/>
    <p:sldId id="257" r:id="rId3"/>
    <p:sldId id="268" r:id="rId4"/>
    <p:sldId id="258" r:id="rId5"/>
    <p:sldId id="259" r:id="rId6"/>
    <p:sldId id="260" r:id="rId7"/>
    <p:sldId id="261" r:id="rId8"/>
    <p:sldId id="262" r:id="rId9"/>
    <p:sldId id="263" r:id="rId10"/>
    <p:sldId id="265" r:id="rId11"/>
    <p:sldId id="269" r:id="rId12"/>
    <p:sldId id="275" r:id="rId13"/>
    <p:sldId id="270" r:id="rId14"/>
    <p:sldId id="271" r:id="rId15"/>
    <p:sldId id="267"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4E731-21D6-43AD-BF2B-4E515DA8AFC7}" v="1" dt="2025-12-29T16:38:41.3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anth Kumar H A" userId="3a5950549c0f2677" providerId="LiveId" clId="{1B5D20BB-D9F0-4263-A458-D216AA29C1D4}"/>
    <pc:docChg chg="modSld sldOrd">
      <pc:chgData name="Hemanth Kumar H A" userId="3a5950549c0f2677" providerId="LiveId" clId="{1B5D20BB-D9F0-4263-A458-D216AA29C1D4}" dt="2025-12-29T16:42:50.921" v="35" actId="20577"/>
      <pc:docMkLst>
        <pc:docMk/>
      </pc:docMkLst>
      <pc:sldChg chg="modSp mod">
        <pc:chgData name="Hemanth Kumar H A" userId="3a5950549c0f2677" providerId="LiveId" clId="{1B5D20BB-D9F0-4263-A458-D216AA29C1D4}" dt="2025-12-29T16:42:50.921" v="35" actId="20577"/>
        <pc:sldMkLst>
          <pc:docMk/>
          <pc:sldMk cId="1688531528" sldId="257"/>
        </pc:sldMkLst>
        <pc:spChg chg="mod">
          <ac:chgData name="Hemanth Kumar H A" userId="3a5950549c0f2677" providerId="LiveId" clId="{1B5D20BB-D9F0-4263-A458-D216AA29C1D4}" dt="2025-12-29T16:42:50.921" v="35" actId="20577"/>
          <ac:spMkLst>
            <pc:docMk/>
            <pc:sldMk cId="1688531528" sldId="257"/>
            <ac:spMk id="3" creationId="{00CDF2A1-F7EE-2EA5-DB8C-A8ACC28A7FBB}"/>
          </ac:spMkLst>
        </pc:spChg>
      </pc:sldChg>
      <pc:sldChg chg="modSp mod">
        <pc:chgData name="Hemanth Kumar H A" userId="3a5950549c0f2677" providerId="LiveId" clId="{1B5D20BB-D9F0-4263-A458-D216AA29C1D4}" dt="2025-12-29T16:42:13.215" v="29" actId="20577"/>
        <pc:sldMkLst>
          <pc:docMk/>
          <pc:sldMk cId="3984706201" sldId="258"/>
        </pc:sldMkLst>
        <pc:spChg chg="mod">
          <ac:chgData name="Hemanth Kumar H A" userId="3a5950549c0f2677" providerId="LiveId" clId="{1B5D20BB-D9F0-4263-A458-D216AA29C1D4}" dt="2025-12-29T16:42:13.215" v="29" actId="20577"/>
          <ac:spMkLst>
            <pc:docMk/>
            <pc:sldMk cId="3984706201" sldId="258"/>
            <ac:spMk id="3" creationId="{1E200C2F-7005-2E90-20DF-F3395D5EB63F}"/>
          </ac:spMkLst>
        </pc:spChg>
      </pc:sldChg>
      <pc:sldChg chg="modSp mod">
        <pc:chgData name="Hemanth Kumar H A" userId="3a5950549c0f2677" providerId="LiveId" clId="{1B5D20BB-D9F0-4263-A458-D216AA29C1D4}" dt="2025-12-29T16:41:23.685" v="24" actId="20577"/>
        <pc:sldMkLst>
          <pc:docMk/>
          <pc:sldMk cId="634650228" sldId="267"/>
        </pc:sldMkLst>
        <pc:spChg chg="mod">
          <ac:chgData name="Hemanth Kumar H A" userId="3a5950549c0f2677" providerId="LiveId" clId="{1B5D20BB-D9F0-4263-A458-D216AA29C1D4}" dt="2025-12-29T16:41:23.685" v="24" actId="20577"/>
          <ac:spMkLst>
            <pc:docMk/>
            <pc:sldMk cId="634650228" sldId="267"/>
            <ac:spMk id="2" creationId="{52D9B508-4D74-7DFA-9F37-168A6E5A9986}"/>
          </ac:spMkLst>
        </pc:spChg>
      </pc:sldChg>
      <pc:sldChg chg="modSp mod">
        <pc:chgData name="Hemanth Kumar H A" userId="3a5950549c0f2677" providerId="LiveId" clId="{1B5D20BB-D9F0-4263-A458-D216AA29C1D4}" dt="2025-12-29T16:37:48.534" v="14" actId="20577"/>
        <pc:sldMkLst>
          <pc:docMk/>
          <pc:sldMk cId="2943352807" sldId="268"/>
        </pc:sldMkLst>
        <pc:spChg chg="mod">
          <ac:chgData name="Hemanth Kumar H A" userId="3a5950549c0f2677" providerId="LiveId" clId="{1B5D20BB-D9F0-4263-A458-D216AA29C1D4}" dt="2025-12-29T16:37:48.534" v="14" actId="20577"/>
          <ac:spMkLst>
            <pc:docMk/>
            <pc:sldMk cId="2943352807" sldId="268"/>
            <ac:spMk id="3" creationId="{3E92B935-6161-88C2-BDC3-FD9409D784C2}"/>
          </ac:spMkLst>
        </pc:spChg>
      </pc:sldChg>
      <pc:sldChg chg="modSp mod ord">
        <pc:chgData name="Hemanth Kumar H A" userId="3a5950549c0f2677" providerId="LiveId" clId="{1B5D20BB-D9F0-4263-A458-D216AA29C1D4}" dt="2025-12-29T16:41:29.730" v="26"/>
        <pc:sldMkLst>
          <pc:docMk/>
          <pc:sldMk cId="3309188967" sldId="273"/>
        </pc:sldMkLst>
        <pc:spChg chg="mod">
          <ac:chgData name="Hemanth Kumar H A" userId="3a5950549c0f2677" providerId="LiveId" clId="{1B5D20BB-D9F0-4263-A458-D216AA29C1D4}" dt="2025-12-29T16:39:02.226" v="19" actId="20577"/>
          <ac:spMkLst>
            <pc:docMk/>
            <pc:sldMk cId="3309188967" sldId="273"/>
            <ac:spMk id="2" creationId="{E0BDEC32-1654-F846-48D5-DD12A2463E71}"/>
          </ac:spMkLst>
        </pc:spChg>
        <pc:spChg chg="mod">
          <ac:chgData name="Hemanth Kumar H A" userId="3a5950549c0f2677" providerId="LiveId" clId="{1B5D20BB-D9F0-4263-A458-D216AA29C1D4}" dt="2025-12-29T16:39:33.187" v="23" actId="20577"/>
          <ac:spMkLst>
            <pc:docMk/>
            <pc:sldMk cId="3309188967" sldId="273"/>
            <ac:spMk id="3" creationId="{C1763364-3BD0-E53D-2F22-30D883EB066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A1F29-48B9-468E-9B0C-202ADB94303C}" type="datetimeFigureOut">
              <a:rPr lang="en-IN" smtClean="0"/>
              <a:t>29-12-2025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D80D3-1AD6-421F-90A6-E878C58C4308}" type="slidenum">
              <a:rPr lang="en-IN" smtClean="0"/>
              <a:t>‹#›</a:t>
            </a:fld>
            <a:endParaRPr lang="en-IN"/>
          </a:p>
        </p:txBody>
      </p:sp>
    </p:spTree>
    <p:extLst>
      <p:ext uri="{BB962C8B-B14F-4D97-AF65-F5344CB8AC3E}">
        <p14:creationId xmlns:p14="http://schemas.microsoft.com/office/powerpoint/2010/main" val="2309917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9ED80D3-1AD6-421F-90A6-E878C58C4308}" type="slidenum">
              <a:rPr lang="en-IN" smtClean="0"/>
              <a:t>16</a:t>
            </a:fld>
            <a:endParaRPr lang="en-IN"/>
          </a:p>
        </p:txBody>
      </p:sp>
    </p:spTree>
    <p:extLst>
      <p:ext uri="{BB962C8B-B14F-4D97-AF65-F5344CB8AC3E}">
        <p14:creationId xmlns:p14="http://schemas.microsoft.com/office/powerpoint/2010/main" val="2909934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1C83623-855B-4663-8422-6CFA3A921C87}"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1198034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C83623-855B-4663-8422-6CFA3A921C87}"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1838240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C83623-855B-4663-8422-6CFA3A921C87}"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701328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C83623-855B-4663-8422-6CFA3A921C87}" type="datetimeFigureOut">
              <a:rPr lang="en-IN" smtClean="0"/>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3153568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1C83623-855B-4663-8422-6CFA3A921C87}" type="datetimeFigureOut">
              <a:rPr lang="en-IN" smtClean="0"/>
              <a:t>29-12-2025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671642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C83623-855B-4663-8422-6CFA3A921C87}" type="datetimeFigureOut">
              <a:rPr lang="en-IN" smtClean="0"/>
              <a:t>29-12-2025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762120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C83623-855B-4663-8422-6CFA3A921C87}" type="datetimeFigureOut">
              <a:rPr lang="en-IN" smtClean="0"/>
              <a:t>29-12-2025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3479862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C83623-855B-4663-8422-6CFA3A921C87}" type="datetimeFigureOut">
              <a:rPr lang="en-IN" smtClean="0"/>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639184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CFB32B-16EB-4A5D-99EE-BB9F61A96B2E}" type="slidenum">
              <a:rPr lang="en-IN" smtClean="0"/>
              <a:t>‹#›</a:t>
            </a:fld>
            <a:endParaRPr lang="en-IN"/>
          </a:p>
        </p:txBody>
      </p:sp>
      <p:sp>
        <p:nvSpPr>
          <p:cNvPr id="5" name="Date Placeholder 4"/>
          <p:cNvSpPr>
            <a:spLocks noGrp="1"/>
          </p:cNvSpPr>
          <p:nvPr>
            <p:ph type="dt" sz="half" idx="10"/>
          </p:nvPr>
        </p:nvSpPr>
        <p:spPr/>
        <p:txBody>
          <a:bodyPr/>
          <a:lstStyle/>
          <a:p>
            <a:fld id="{F1C83623-855B-4663-8422-6CFA3A921C87}" type="datetimeFigureOut">
              <a:rPr lang="en-IN" smtClean="0"/>
              <a:t>29-12-2025</a:t>
            </a:fld>
            <a:endParaRPr lang="en-IN"/>
          </a:p>
        </p:txBody>
      </p:sp>
    </p:spTree>
    <p:extLst>
      <p:ext uri="{BB962C8B-B14F-4D97-AF65-F5344CB8AC3E}">
        <p14:creationId xmlns:p14="http://schemas.microsoft.com/office/powerpoint/2010/main" val="3796727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C83623-855B-4663-8422-6CFA3A921C87}"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195340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C83623-855B-4663-8422-6CFA3A921C87}"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CFB32B-16EB-4A5D-99EE-BB9F61A96B2E}"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17450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C83623-855B-4663-8422-6CFA3A921C87}"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18069353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C83623-855B-4663-8422-6CFA3A921C87}"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CFB32B-16EB-4A5D-99EE-BB9F61A96B2E}"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893509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C83623-855B-4663-8422-6CFA3A921C87}"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34798161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C83623-855B-4663-8422-6CFA3A921C87}"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9652139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C83623-855B-4663-8422-6CFA3A921C87}"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CFB32B-16EB-4A5D-99EE-BB9F61A96B2E}" type="slidenum">
              <a:rPr lang="en-IN" smtClean="0"/>
              <a:t>‹#›</a:t>
            </a:fld>
            <a:endParaRPr lang="en-IN"/>
          </a:p>
        </p:txBody>
      </p:sp>
    </p:spTree>
    <p:extLst>
      <p:ext uri="{BB962C8B-B14F-4D97-AF65-F5344CB8AC3E}">
        <p14:creationId xmlns:p14="http://schemas.microsoft.com/office/powerpoint/2010/main" val="263786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1C83623-855B-4663-8422-6CFA3A921C87}" type="datetimeFigureOut">
              <a:rPr lang="en-IN" smtClean="0"/>
              <a:t>29-12-2025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3CFB32B-16EB-4A5D-99EE-BB9F61A96B2E}" type="slidenum">
              <a:rPr lang="en-IN" smtClean="0"/>
              <a:t>‹#›</a:t>
            </a:fld>
            <a:endParaRPr lang="en-IN"/>
          </a:p>
        </p:txBody>
      </p:sp>
    </p:spTree>
    <p:extLst>
      <p:ext uri="{BB962C8B-B14F-4D97-AF65-F5344CB8AC3E}">
        <p14:creationId xmlns:p14="http://schemas.microsoft.com/office/powerpoint/2010/main" val="1607116755"/>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197;p36">
            <a:extLst>
              <a:ext uri="{FF2B5EF4-FFF2-40B4-BE49-F238E27FC236}">
                <a16:creationId xmlns:a16="http://schemas.microsoft.com/office/drawing/2014/main" id="{D987DE84-6BA8-B2C4-8F06-CA1525E3394F}"/>
              </a:ext>
            </a:extLst>
          </p:cNvPr>
          <p:cNvSpPr txBox="1">
            <a:spLocks noGrp="1"/>
          </p:cNvSpPr>
          <p:nvPr/>
        </p:nvSpPr>
        <p:spPr>
          <a:xfrm>
            <a:off x="905588" y="185057"/>
            <a:ext cx="9478238" cy="16319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9pPr>
          </a:lstStyle>
          <a:p>
            <a:r>
              <a:rPr lang="en-US" sz="32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MALNAD COLLEGE OF ENGINEERING</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HASSAN – 573202, KARNATAKA</a:t>
            </a:r>
            <a:br>
              <a:rPr lang="en-US" sz="2000" b="1" dirty="0">
                <a:cs typeface="Times New Roman" panose="02020603050405020304" pitchFamily="18" charset="0"/>
              </a:rPr>
            </a:br>
            <a:r>
              <a:rPr lang="en-US" sz="2800" b="1" dirty="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 Autonomous Institute under VTU, Belgaum)</a:t>
            </a:r>
            <a:br>
              <a:rPr lang="en-US" sz="1800" dirty="0">
                <a:latin typeface="Times New Roman" panose="02020603050405020304" pitchFamily="18" charset="0"/>
                <a:cs typeface="Times New Roman" panose="02020603050405020304" pitchFamily="18" charset="0"/>
              </a:rPr>
            </a:br>
            <a:endParaRPr sz="18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26657378-ED75-F87A-8AB5-1CD5E06A1C45}"/>
              </a:ext>
            </a:extLst>
          </p:cNvPr>
          <p:cNvPicPr>
            <a:picLocks noChangeAspect="1"/>
          </p:cNvPicPr>
          <p:nvPr/>
        </p:nvPicPr>
        <p:blipFill>
          <a:blip r:embed="rId2"/>
          <a:stretch>
            <a:fillRect/>
          </a:stretch>
        </p:blipFill>
        <p:spPr>
          <a:xfrm>
            <a:off x="5670465" y="2059028"/>
            <a:ext cx="851070" cy="940253"/>
          </a:xfrm>
          <a:prstGeom prst="rect">
            <a:avLst/>
          </a:prstGeom>
        </p:spPr>
      </p:pic>
      <p:sp>
        <p:nvSpPr>
          <p:cNvPr id="15" name="TextBox 2">
            <a:extLst>
              <a:ext uri="{FF2B5EF4-FFF2-40B4-BE49-F238E27FC236}">
                <a16:creationId xmlns:a16="http://schemas.microsoft.com/office/drawing/2014/main" id="{A49C93A2-34AB-525E-797F-315E4A86F8C8}"/>
              </a:ext>
            </a:extLst>
          </p:cNvPr>
          <p:cNvSpPr txBox="1"/>
          <p:nvPr/>
        </p:nvSpPr>
        <p:spPr>
          <a:xfrm>
            <a:off x="2090671" y="3286040"/>
            <a:ext cx="7508382" cy="126188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2400" b="1" dirty="0">
                <a:latin typeface="Times New Roman" panose="02020603050405020304" pitchFamily="18" charset="0"/>
                <a:cs typeface="Times New Roman" panose="02020603050405020304" pitchFamily="18" charset="0"/>
              </a:rPr>
              <a:t>SUB :  Mini Project(23IS506)</a:t>
            </a:r>
          </a:p>
          <a:p>
            <a:pPr algn="ctr"/>
            <a:r>
              <a:rPr lang="en-IN" sz="2600" b="1" dirty="0">
                <a:latin typeface="Times New Roman" panose="02020603050405020304" pitchFamily="18" charset="0"/>
                <a:cs typeface="Times New Roman" panose="02020603050405020304" pitchFamily="18" charset="0"/>
              </a:rPr>
              <a:t>TOPIC :AI-Powered Class Scheduling System using Django Framework</a:t>
            </a:r>
          </a:p>
        </p:txBody>
      </p:sp>
      <p:sp>
        <p:nvSpPr>
          <p:cNvPr id="16" name="TextBox 4">
            <a:extLst>
              <a:ext uri="{FF2B5EF4-FFF2-40B4-BE49-F238E27FC236}">
                <a16:creationId xmlns:a16="http://schemas.microsoft.com/office/drawing/2014/main" id="{5BC9D723-95B7-0CAA-EFAC-E5962B00BBAB}"/>
              </a:ext>
            </a:extLst>
          </p:cNvPr>
          <p:cNvSpPr txBox="1"/>
          <p:nvPr/>
        </p:nvSpPr>
        <p:spPr>
          <a:xfrm>
            <a:off x="1923692" y="4412257"/>
            <a:ext cx="2472296" cy="954107"/>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000" b="1" dirty="0">
                <a:latin typeface="Times New Roman" panose="02020603050405020304" pitchFamily="18" charset="0"/>
                <a:cs typeface="Times New Roman" panose="02020603050405020304" pitchFamily="18" charset="0"/>
              </a:rPr>
              <a:t>Guided by:</a:t>
            </a:r>
          </a:p>
          <a:p>
            <a:r>
              <a:rPr lang="en-IN" sz="1800" dirty="0">
                <a:latin typeface="Times New Roman" panose="02020603050405020304" pitchFamily="18" charset="0"/>
                <a:cs typeface="Times New Roman" panose="02020603050405020304" pitchFamily="18" charset="0"/>
              </a:rPr>
              <a:t>Mr. Krishna Swaroop A</a:t>
            </a:r>
          </a:p>
          <a:p>
            <a:r>
              <a:rPr lang="en-IN" sz="1800" dirty="0">
                <a:latin typeface="Times New Roman" panose="02020603050405020304" pitchFamily="18" charset="0"/>
                <a:cs typeface="Times New Roman" panose="02020603050405020304" pitchFamily="18" charset="0"/>
              </a:rPr>
              <a:t>Assistant Professor</a:t>
            </a:r>
          </a:p>
        </p:txBody>
      </p:sp>
      <p:sp>
        <p:nvSpPr>
          <p:cNvPr id="17" name="TextBox 5">
            <a:extLst>
              <a:ext uri="{FF2B5EF4-FFF2-40B4-BE49-F238E27FC236}">
                <a16:creationId xmlns:a16="http://schemas.microsoft.com/office/drawing/2014/main" id="{1D7B2571-E14D-6492-BE08-725329209048}"/>
              </a:ext>
            </a:extLst>
          </p:cNvPr>
          <p:cNvSpPr txBox="1"/>
          <p:nvPr/>
        </p:nvSpPr>
        <p:spPr>
          <a:xfrm>
            <a:off x="7448190" y="4329708"/>
            <a:ext cx="4373696" cy="1723549"/>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t> </a:t>
            </a:r>
            <a:r>
              <a:rPr lang="en-US" sz="2000" b="1" dirty="0">
                <a:latin typeface="Times New Roman" panose="02020603050405020304" pitchFamily="18" charset="0"/>
                <a:cs typeface="Times New Roman" panose="02020603050405020304" pitchFamily="18" charset="0"/>
              </a:rPr>
              <a:t>PRESENTED BY: </a:t>
            </a:r>
          </a:p>
          <a:p>
            <a:r>
              <a:rPr lang="en-US"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Haneesh H D - 4MC23IS037</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Hruthwik</a:t>
            </a:r>
            <a:r>
              <a:rPr lang="en-US" sz="1800" dirty="0">
                <a:latin typeface="Times New Roman" panose="02020603050405020304" pitchFamily="18" charset="0"/>
                <a:cs typeface="Times New Roman" panose="02020603050405020304" pitchFamily="18" charset="0"/>
              </a:rPr>
              <a:t> M R-4MC23IS043</a:t>
            </a:r>
          </a:p>
          <a:p>
            <a:r>
              <a:rPr lang="en-US" sz="1800" dirty="0">
                <a:latin typeface="Times New Roman" panose="02020603050405020304" pitchFamily="18" charset="0"/>
                <a:cs typeface="Times New Roman" panose="02020603050405020304" pitchFamily="18" charset="0"/>
              </a:rPr>
              <a:t> Jeevan K M -4MC23IS050</a:t>
            </a:r>
          </a:p>
          <a:p>
            <a:r>
              <a:rPr lang="en-US" sz="1800" dirty="0">
                <a:latin typeface="Times New Roman" panose="02020603050405020304" pitchFamily="18" charset="0"/>
                <a:cs typeface="Times New Roman" panose="02020603050405020304" pitchFamily="18" charset="0"/>
              </a:rPr>
              <a:t> Hemanth Kumar H A-4MC22IS132</a:t>
            </a:r>
            <a:endParaRPr lang="en-IN"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28152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6CFEA-C514-0CB2-8FFC-B272A5EB99E6}"/>
              </a:ext>
            </a:extLst>
          </p:cNvPr>
          <p:cNvSpPr>
            <a:spLocks noGrp="1"/>
          </p:cNvSpPr>
          <p:nvPr>
            <p:ph type="title"/>
          </p:nvPr>
        </p:nvSpPr>
        <p:spPr>
          <a:xfrm>
            <a:off x="677334" y="363795"/>
            <a:ext cx="8596668" cy="1327354"/>
          </a:xfrm>
        </p:spPr>
        <p:txBody>
          <a:bodyPr>
            <a:normAutofit/>
          </a:bodyPr>
          <a:lstStyle/>
          <a:p>
            <a:r>
              <a:rPr lang="en-US" b="1" dirty="0">
                <a:latin typeface="Times New Roman" panose="02020603050405020304" pitchFamily="18" charset="0"/>
                <a:cs typeface="Times New Roman" panose="02020603050405020304" pitchFamily="18" charset="0"/>
              </a:rPr>
              <a:t>AI-Powered Class Scheduling System Using Django Framework</a:t>
            </a:r>
          </a:p>
        </p:txBody>
      </p:sp>
      <p:sp>
        <p:nvSpPr>
          <p:cNvPr id="3" name="Content Placeholder 2">
            <a:extLst>
              <a:ext uri="{FF2B5EF4-FFF2-40B4-BE49-F238E27FC236}">
                <a16:creationId xmlns:a16="http://schemas.microsoft.com/office/drawing/2014/main" id="{00CDF2A1-F7EE-2EA5-DB8C-A8ACC28A7FBB}"/>
              </a:ext>
            </a:extLst>
          </p:cNvPr>
          <p:cNvSpPr>
            <a:spLocks noGrp="1"/>
          </p:cNvSpPr>
          <p:nvPr>
            <p:ph idx="1"/>
          </p:nvPr>
        </p:nvSpPr>
        <p:spPr>
          <a:xfrm>
            <a:off x="755992" y="1563329"/>
            <a:ext cx="8596668" cy="4478033"/>
          </a:xfrm>
        </p:spPr>
        <p:txBody>
          <a:bodyPr>
            <a:normAutofit/>
          </a:bodyPr>
          <a:lstStyle/>
          <a:p>
            <a:r>
              <a:rPr lang="en-US" sz="2400" u="sng" dirty="0">
                <a:latin typeface="Times New Roman" panose="02020603050405020304" pitchFamily="18" charset="0"/>
                <a:cs typeface="Times New Roman" panose="02020603050405020304" pitchFamily="18" charset="0"/>
              </a:rPr>
              <a:t>Introduction</a:t>
            </a:r>
            <a:br>
              <a:rPr lang="en-US" sz="24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 comprehensive exploration of intelligent scheduling systems that transform educational administration through automation and </a:t>
            </a:r>
            <a:r>
              <a:rPr lang="en-US" sz="2000" dirty="0" err="1">
                <a:latin typeface="Times New Roman" panose="02020603050405020304" pitchFamily="18" charset="0"/>
                <a:cs typeface="Times New Roman" panose="02020603050405020304" pitchFamily="18" charset="0"/>
              </a:rPr>
              <a:t>optimisation</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AI-generated timetable system aims to minimize human effort, eliminate scheduling conflicts, and improve overall management within educational or organizational </a:t>
            </a:r>
            <a:r>
              <a:rPr lang="en-US" sz="2000">
                <a:latin typeface="Times New Roman" panose="02020603050405020304" pitchFamily="18" charset="0"/>
                <a:cs typeface="Times New Roman" panose="02020603050405020304" pitchFamily="18" charset="0"/>
              </a:rPr>
              <a:t>environments.</a:t>
            </a:r>
          </a:p>
          <a:p>
            <a:r>
              <a:rPr lang="en-US" sz="200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Django framework ensures secure user authentication, efficient database management, and a responsive user interface for administrators, teachers, and students to view and manage schedules seamlessly.</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8531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C86641-1FA3-2FB3-321F-E2253E61BA8C}"/>
              </a:ext>
            </a:extLst>
          </p:cNvPr>
          <p:cNvSpPr txBox="1"/>
          <p:nvPr/>
        </p:nvSpPr>
        <p:spPr>
          <a:xfrm>
            <a:off x="740228" y="604395"/>
            <a:ext cx="2107735" cy="58477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200" b="1" dirty="0">
                <a:latin typeface="Times New Roman" panose="02020603050405020304" pitchFamily="18" charset="0"/>
                <a:cs typeface="Times New Roman" panose="02020603050405020304" pitchFamily="18" charset="0"/>
              </a:rPr>
              <a:t>Contents:</a:t>
            </a:r>
          </a:p>
        </p:txBody>
      </p:sp>
      <p:sp>
        <p:nvSpPr>
          <p:cNvPr id="3" name="TextBox 2">
            <a:extLst>
              <a:ext uri="{FF2B5EF4-FFF2-40B4-BE49-F238E27FC236}">
                <a16:creationId xmlns:a16="http://schemas.microsoft.com/office/drawing/2014/main" id="{3E92B935-6161-88C2-BDC3-FD9409D784C2}"/>
              </a:ext>
            </a:extLst>
          </p:cNvPr>
          <p:cNvSpPr txBox="1"/>
          <p:nvPr/>
        </p:nvSpPr>
        <p:spPr>
          <a:xfrm>
            <a:off x="740227" y="1158689"/>
            <a:ext cx="6923315" cy="4893647"/>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mj-lt"/>
              <a:buAutoNum type="arabicPeriod"/>
            </a:pPr>
            <a:r>
              <a:rPr lang="en-IN" sz="2400" dirty="0">
                <a:latin typeface="Times New Roman" panose="02020603050405020304" pitchFamily="18" charset="0"/>
                <a:cs typeface="Times New Roman" panose="02020603050405020304" pitchFamily="18" charset="0"/>
              </a:rPr>
              <a:t>Abstract</a:t>
            </a:r>
          </a:p>
          <a:p>
            <a:pPr marL="342900" indent="-342900">
              <a:buFont typeface="+mj-lt"/>
              <a:buAutoNum type="arabicPeriod"/>
            </a:pPr>
            <a:r>
              <a:rPr lang="en-IN" sz="2400" dirty="0">
                <a:latin typeface="Times New Roman" panose="02020603050405020304" pitchFamily="18" charset="0"/>
                <a:cs typeface="Times New Roman" panose="02020603050405020304" pitchFamily="18" charset="0"/>
              </a:rPr>
              <a:t>System Analysis</a:t>
            </a:r>
          </a:p>
          <a:p>
            <a:pPr marL="342900" indent="-342900">
              <a:buFont typeface="+mj-lt"/>
              <a:buAutoNum type="arabicPeriod"/>
            </a:pPr>
            <a:r>
              <a:rPr lang="en-IN" sz="2400" dirty="0">
                <a:latin typeface="Times New Roman" panose="02020603050405020304" pitchFamily="18" charset="0"/>
                <a:cs typeface="Times New Roman" panose="02020603050405020304" pitchFamily="18" charset="0"/>
              </a:rPr>
              <a:t>Problem Statement</a:t>
            </a:r>
          </a:p>
          <a:p>
            <a:pPr marL="342900" indent="-342900">
              <a:buFont typeface="+mj-lt"/>
              <a:buAutoNum type="arabicPeriod"/>
            </a:pPr>
            <a:r>
              <a:rPr lang="en-IN" sz="2400" dirty="0">
                <a:latin typeface="Times New Roman" panose="02020603050405020304" pitchFamily="18" charset="0"/>
                <a:cs typeface="Times New Roman" panose="02020603050405020304" pitchFamily="18" charset="0"/>
              </a:rPr>
              <a:t>Proposed solution</a:t>
            </a:r>
          </a:p>
          <a:p>
            <a:pPr marL="342900" indent="-342900">
              <a:buFont typeface="+mj-lt"/>
              <a:buAutoNum type="arabicPeriod"/>
            </a:pPr>
            <a:r>
              <a:rPr lang="en-IN" sz="2400" dirty="0">
                <a:latin typeface="Times New Roman" panose="02020603050405020304" pitchFamily="18" charset="0"/>
                <a:cs typeface="Times New Roman" panose="02020603050405020304" pitchFamily="18" charset="0"/>
              </a:rPr>
              <a:t>Functional Requirements</a:t>
            </a:r>
          </a:p>
          <a:p>
            <a:pPr marL="342900" indent="-342900">
              <a:buFont typeface="+mj-lt"/>
              <a:buAutoNum type="arabicPeriod"/>
            </a:pPr>
            <a:r>
              <a:rPr lang="en-IN" sz="2400" dirty="0">
                <a:latin typeface="Times New Roman" panose="02020603050405020304" pitchFamily="18" charset="0"/>
                <a:cs typeface="Times New Roman" panose="02020603050405020304" pitchFamily="18" charset="0"/>
              </a:rPr>
              <a:t>Non-functional Requirements</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Hardware</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Software</a:t>
            </a:r>
          </a:p>
          <a:p>
            <a:pPr marL="342900" indent="-342900">
              <a:buAutoNum type="arabicPeriod" startAt="7"/>
            </a:pPr>
            <a:r>
              <a:rPr lang="en-IN" sz="2400" dirty="0">
                <a:latin typeface="Times New Roman" panose="02020603050405020304" pitchFamily="18" charset="0"/>
                <a:cs typeface="Times New Roman" panose="02020603050405020304" pitchFamily="18" charset="0"/>
              </a:rPr>
              <a:t>System Design – Architecture</a:t>
            </a:r>
          </a:p>
          <a:p>
            <a:pPr marL="342900" indent="-342900">
              <a:buAutoNum type="arabicPeriod" startAt="7"/>
            </a:pPr>
            <a:r>
              <a:rPr lang="en-IN" sz="2400" dirty="0">
                <a:latin typeface="Times New Roman" panose="02020603050405020304" pitchFamily="18" charset="0"/>
                <a:cs typeface="Times New Roman" panose="02020603050405020304" pitchFamily="18" charset="0"/>
              </a:rPr>
              <a:t>Database (ER Diagram)</a:t>
            </a:r>
          </a:p>
          <a:p>
            <a:pPr marL="342900" indent="-342900">
              <a:buAutoNum type="arabicPeriod" startAt="7"/>
            </a:pPr>
            <a:r>
              <a:rPr lang="en-IN" sz="2400" dirty="0">
                <a:latin typeface="Times New Roman" panose="02020603050405020304" pitchFamily="18" charset="0"/>
                <a:cs typeface="Times New Roman" panose="02020603050405020304" pitchFamily="18" charset="0"/>
              </a:rPr>
              <a:t>DFD Levels flowchart</a:t>
            </a:r>
          </a:p>
          <a:p>
            <a:pPr marL="342900" indent="-342900">
              <a:buAutoNum type="arabicPeriod" startAt="7"/>
            </a:pPr>
            <a:r>
              <a:rPr lang="en-IN" sz="2400" dirty="0">
                <a:latin typeface="Times New Roman" panose="02020603050405020304" pitchFamily="18" charset="0"/>
                <a:cs typeface="Times New Roman" panose="02020603050405020304" pitchFamily="18" charset="0"/>
              </a:rPr>
              <a:t>Conclusion</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3352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304CE-0BCF-D42F-9144-C00AA68F4E96}"/>
              </a:ext>
            </a:extLst>
          </p:cNvPr>
          <p:cNvSpPr>
            <a:spLocks noGrp="1"/>
          </p:cNvSpPr>
          <p:nvPr>
            <p:ph type="title"/>
          </p:nvPr>
        </p:nvSpPr>
        <p:spPr>
          <a:xfrm>
            <a:off x="677334" y="609600"/>
            <a:ext cx="8596668" cy="816077"/>
          </a:xfrm>
        </p:spPr>
        <p:txBody>
          <a:bodyPr>
            <a:noAutofit/>
          </a:bodyPr>
          <a:lstStyle/>
          <a:p>
            <a:r>
              <a:rPr lang="en-US" dirty="0">
                <a:latin typeface="Times New Roman" panose="02020603050405020304" pitchFamily="18" charset="0"/>
                <a:cs typeface="Times New Roman" panose="02020603050405020304" pitchFamily="18" charset="0"/>
              </a:rPr>
              <a:t>1. </a:t>
            </a:r>
            <a:r>
              <a:rPr lang="en-US" sz="4000" dirty="0">
                <a:latin typeface="Times New Roman" panose="02020603050405020304" pitchFamily="18" charset="0"/>
                <a:cs typeface="Times New Roman" panose="02020603050405020304" pitchFamily="18" charset="0"/>
              </a:rPr>
              <a:t>Abstract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200C2F-7005-2E90-20DF-F3395D5EB63F}"/>
              </a:ext>
            </a:extLst>
          </p:cNvPr>
          <p:cNvSpPr>
            <a:spLocks noGrp="1"/>
          </p:cNvSpPr>
          <p:nvPr>
            <p:ph idx="1"/>
          </p:nvPr>
        </p:nvSpPr>
        <p:spPr>
          <a:xfrm>
            <a:off x="677333" y="1288027"/>
            <a:ext cx="9184421" cy="5152102"/>
          </a:xfrm>
        </p:spPr>
        <p:txBody>
          <a:bodyPr>
            <a:normAutofit/>
          </a:bodyPr>
          <a:lstStyle/>
          <a:p>
            <a:r>
              <a:rPr lang="en-US" sz="2200" dirty="0">
                <a:latin typeface="Times New Roman" panose="02020603050405020304" pitchFamily="18" charset="0"/>
                <a:cs typeface="Times New Roman" panose="02020603050405020304" pitchFamily="18" charset="0"/>
              </a:rPr>
              <a:t>This project presents an AI-powered class scheduling system designed to automate and optimize timetable creation for colleges. </a:t>
            </a:r>
          </a:p>
          <a:p>
            <a:r>
              <a:rPr lang="en-US" sz="2200" dirty="0">
                <a:latin typeface="Times New Roman" panose="02020603050405020304" pitchFamily="18" charset="0"/>
                <a:cs typeface="Times New Roman" panose="02020603050405020304" pitchFamily="18" charset="0"/>
              </a:rPr>
              <a:t>The system leverages artificial intelligence algorithms integrated with the Django framework to assign courses, faculty, classrooms, and time slots efficiently while respecting various constraints like faculty availability, course durations, and lunch breaks. </a:t>
            </a:r>
          </a:p>
          <a:p>
            <a:r>
              <a:rPr lang="en-US" sz="2200" dirty="0">
                <a:latin typeface="Times New Roman" panose="02020603050405020304" pitchFamily="18" charset="0"/>
                <a:cs typeface="Times New Roman" panose="02020603050405020304" pitchFamily="18" charset="0"/>
              </a:rPr>
              <a:t>With a web-based interface developed using HTML, CSS, and JavaScript, and data managed via a MySQL database, the system minimizes manual intervention and scheduling conflicts. </a:t>
            </a:r>
          </a:p>
          <a:p>
            <a:r>
              <a:rPr lang="en-US" sz="2200" dirty="0">
                <a:latin typeface="Times New Roman" panose="02020603050405020304" pitchFamily="18" charset="0"/>
                <a:cs typeface="Times New Roman" panose="02020603050405020304" pitchFamily="18" charset="0"/>
              </a:rPr>
              <a:t>This results in enhanced resource utilization, reduced scheduling errors, and simplified administrative operations.</a:t>
            </a:r>
          </a:p>
        </p:txBody>
      </p:sp>
    </p:spTree>
    <p:extLst>
      <p:ext uri="{BB962C8B-B14F-4D97-AF65-F5344CB8AC3E}">
        <p14:creationId xmlns:p14="http://schemas.microsoft.com/office/powerpoint/2010/main" val="3984706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B221B-22AA-81ED-144A-8C21DD3B9BCC}"/>
              </a:ext>
            </a:extLst>
          </p:cNvPr>
          <p:cNvSpPr>
            <a:spLocks noGrp="1"/>
          </p:cNvSpPr>
          <p:nvPr>
            <p:ph type="title"/>
          </p:nvPr>
        </p:nvSpPr>
        <p:spPr>
          <a:xfrm>
            <a:off x="785489" y="324465"/>
            <a:ext cx="8596668" cy="707923"/>
          </a:xfrm>
        </p:spPr>
        <p:txBody>
          <a:bodyPr/>
          <a:lstStyle/>
          <a:p>
            <a:r>
              <a:rPr lang="en-US" dirty="0">
                <a:latin typeface="Times New Roman" panose="02020603050405020304" pitchFamily="18" charset="0"/>
                <a:cs typeface="Times New Roman" panose="02020603050405020304" pitchFamily="18" charset="0"/>
              </a:rPr>
              <a:t>2. System Analysis</a:t>
            </a:r>
          </a:p>
        </p:txBody>
      </p:sp>
      <p:sp>
        <p:nvSpPr>
          <p:cNvPr id="3" name="Content Placeholder 2">
            <a:extLst>
              <a:ext uri="{FF2B5EF4-FFF2-40B4-BE49-F238E27FC236}">
                <a16:creationId xmlns:a16="http://schemas.microsoft.com/office/drawing/2014/main" id="{EFB1DAA7-E415-5B96-90E6-D88C3EF46084}"/>
              </a:ext>
            </a:extLst>
          </p:cNvPr>
          <p:cNvSpPr>
            <a:spLocks noGrp="1"/>
          </p:cNvSpPr>
          <p:nvPr>
            <p:ph idx="1"/>
          </p:nvPr>
        </p:nvSpPr>
        <p:spPr>
          <a:xfrm>
            <a:off x="785489" y="1032388"/>
            <a:ext cx="9046769" cy="5388077"/>
          </a:xfrm>
        </p:spPr>
        <p:txBody>
          <a:bodyPr>
            <a:normAutofit/>
          </a:bodyPr>
          <a:lstStyle/>
          <a:p>
            <a:r>
              <a:rPr lang="en-US" sz="2400" dirty="0">
                <a:latin typeface="Times New Roman" panose="02020603050405020304" pitchFamily="18" charset="0"/>
                <a:cs typeface="Times New Roman" panose="02020603050405020304" pitchFamily="18" charset="0"/>
              </a:rPr>
              <a:t>Manual timetable creation in academic institutions often leads to conflicts, inconsistent allocations, and inefficient time management. The proposed system analyzes input data such as courses, faculties, and available classroom slots and uses AI algorithms (e.g., constraint satisfaction or genetic algorithms) to automatically generate conflict-free schedules.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Key considerations include:</a:t>
            </a:r>
          </a:p>
          <a:p>
            <a:r>
              <a:rPr lang="en-US" sz="2400" dirty="0">
                <a:latin typeface="Times New Roman" panose="02020603050405020304" pitchFamily="18" charset="0"/>
                <a:cs typeface="Times New Roman" panose="02020603050405020304" pitchFamily="18" charset="0"/>
              </a:rPr>
              <a:t>Avoiding overlapping faculty or room assignments.</a:t>
            </a:r>
          </a:p>
          <a:p>
            <a:r>
              <a:rPr lang="en-US" sz="2400" dirty="0">
                <a:latin typeface="Times New Roman" panose="02020603050405020304" pitchFamily="18" charset="0"/>
                <a:cs typeface="Times New Roman" panose="02020603050405020304" pitchFamily="18" charset="0"/>
              </a:rPr>
              <a:t>Balancing lecture and lab workloads.</a:t>
            </a:r>
          </a:p>
          <a:p>
            <a:r>
              <a:rPr lang="en-US" sz="2400" dirty="0">
                <a:latin typeface="Times New Roman" panose="02020603050405020304" pitchFamily="18" charset="0"/>
                <a:cs typeface="Times New Roman" panose="02020603050405020304" pitchFamily="18" charset="0"/>
              </a:rPr>
              <a:t>Integrating organizational constraints (e.g., college hours, lunch breaks).</a:t>
            </a:r>
          </a:p>
        </p:txBody>
      </p:sp>
    </p:spTree>
    <p:extLst>
      <p:ext uri="{BB962C8B-B14F-4D97-AF65-F5344CB8AC3E}">
        <p14:creationId xmlns:p14="http://schemas.microsoft.com/office/powerpoint/2010/main" val="3020358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4B3E-E692-D5F5-97C4-42E487AED670}"/>
              </a:ext>
            </a:extLst>
          </p:cNvPr>
          <p:cNvSpPr>
            <a:spLocks noGrp="1"/>
          </p:cNvSpPr>
          <p:nvPr>
            <p:ph type="title"/>
          </p:nvPr>
        </p:nvSpPr>
        <p:spPr>
          <a:xfrm>
            <a:off x="677334" y="363793"/>
            <a:ext cx="8596668" cy="727587"/>
          </a:xfrm>
        </p:spPr>
        <p:txBody>
          <a:bodyPr/>
          <a:lstStyle/>
          <a:p>
            <a:r>
              <a:rPr lang="en-US" dirty="0">
                <a:latin typeface="Times New Roman" panose="02020603050405020304" pitchFamily="18" charset="0"/>
                <a:cs typeface="Times New Roman" panose="02020603050405020304" pitchFamily="18" charset="0"/>
              </a:rPr>
              <a:t>3. Problem Statement</a:t>
            </a:r>
          </a:p>
        </p:txBody>
      </p:sp>
      <p:sp>
        <p:nvSpPr>
          <p:cNvPr id="3" name="Content Placeholder 2">
            <a:extLst>
              <a:ext uri="{FF2B5EF4-FFF2-40B4-BE49-F238E27FC236}">
                <a16:creationId xmlns:a16="http://schemas.microsoft.com/office/drawing/2014/main" id="{D129F0DA-249D-D2F4-547C-7B6F1A7A5F2B}"/>
              </a:ext>
            </a:extLst>
          </p:cNvPr>
          <p:cNvSpPr>
            <a:spLocks noGrp="1"/>
          </p:cNvSpPr>
          <p:nvPr>
            <p:ph idx="1"/>
          </p:nvPr>
        </p:nvSpPr>
        <p:spPr>
          <a:xfrm>
            <a:off x="677334" y="1091381"/>
            <a:ext cx="8596668" cy="5402826"/>
          </a:xfrm>
        </p:spPr>
        <p:txBody>
          <a:bodyPr>
            <a:normAutofit/>
          </a:bodyPr>
          <a:lstStyle/>
          <a:p>
            <a:r>
              <a:rPr lang="en-US" sz="2400" dirty="0">
                <a:latin typeface="Times New Roman" panose="02020603050405020304" pitchFamily="18" charset="0"/>
                <a:cs typeface="Times New Roman" panose="02020603050405020304" pitchFamily="18" charset="0"/>
              </a:rPr>
              <a:t>Most college timetabling is done manually using spreadsheets, which is time-consuming, prone to human error, and lacks flexibility when faculty or course changes occur. The process becomes increasingly complex as the number of courses, faculties, and classrooms increases.</a:t>
            </a:r>
          </a:p>
          <a:p>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Challenges include:</a:t>
            </a:r>
          </a:p>
          <a:p>
            <a:r>
              <a:rPr lang="en-US" sz="2400" dirty="0">
                <a:latin typeface="Times New Roman" panose="02020603050405020304" pitchFamily="18" charset="0"/>
                <a:cs typeface="Times New Roman" panose="02020603050405020304" pitchFamily="18" charset="0"/>
              </a:rPr>
              <a:t>Preventing overlapping sessions and resource conflicts.</a:t>
            </a:r>
          </a:p>
          <a:p>
            <a:r>
              <a:rPr lang="en-US" sz="2400" dirty="0">
                <a:latin typeface="Times New Roman" panose="02020603050405020304" pitchFamily="18" charset="0"/>
                <a:cs typeface="Times New Roman" panose="02020603050405020304" pitchFamily="18" charset="0"/>
              </a:rPr>
              <a:t>Handling frequent updates efficiently.</a:t>
            </a:r>
          </a:p>
          <a:p>
            <a:r>
              <a:rPr lang="en-US" sz="2400" dirty="0">
                <a:latin typeface="Times New Roman" panose="02020603050405020304" pitchFamily="18" charset="0"/>
                <a:cs typeface="Times New Roman" panose="02020603050405020304" pitchFamily="18" charset="0"/>
              </a:rPr>
              <a:t>Maintaining fairness in faculty scheduling.</a:t>
            </a:r>
          </a:p>
          <a:p>
            <a:r>
              <a:rPr lang="en-US" sz="2400" dirty="0">
                <a:latin typeface="Times New Roman" panose="02020603050405020304" pitchFamily="18" charset="0"/>
                <a:cs typeface="Times New Roman" panose="02020603050405020304" pitchFamily="18" charset="0"/>
              </a:rPr>
              <a:t>Adhering to predefined institutional constraints and preferences.</a:t>
            </a:r>
          </a:p>
        </p:txBody>
      </p:sp>
    </p:spTree>
    <p:extLst>
      <p:ext uri="{BB962C8B-B14F-4D97-AF65-F5344CB8AC3E}">
        <p14:creationId xmlns:p14="http://schemas.microsoft.com/office/powerpoint/2010/main" val="2555007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AECE2-2923-5CF1-38E4-9EB35435F066}"/>
              </a:ext>
            </a:extLst>
          </p:cNvPr>
          <p:cNvSpPr>
            <a:spLocks noGrp="1"/>
          </p:cNvSpPr>
          <p:nvPr>
            <p:ph type="title"/>
          </p:nvPr>
        </p:nvSpPr>
        <p:spPr>
          <a:xfrm>
            <a:off x="677334" y="309716"/>
            <a:ext cx="8596668" cy="796413"/>
          </a:xfrm>
        </p:spPr>
        <p:txBody>
          <a:bodyPr/>
          <a:lstStyle/>
          <a:p>
            <a:r>
              <a:rPr lang="en-US" dirty="0">
                <a:latin typeface="Times New Roman" panose="02020603050405020304" pitchFamily="18" charset="0"/>
                <a:cs typeface="Times New Roman" panose="02020603050405020304" pitchFamily="18" charset="0"/>
              </a:rPr>
              <a:t>4. Proposed Solution</a:t>
            </a:r>
          </a:p>
        </p:txBody>
      </p:sp>
      <p:sp>
        <p:nvSpPr>
          <p:cNvPr id="3" name="Content Placeholder 2">
            <a:extLst>
              <a:ext uri="{FF2B5EF4-FFF2-40B4-BE49-F238E27FC236}">
                <a16:creationId xmlns:a16="http://schemas.microsoft.com/office/drawing/2014/main" id="{6FCDF9B6-B594-31D5-BA77-2B9E38295299}"/>
              </a:ext>
            </a:extLst>
          </p:cNvPr>
          <p:cNvSpPr>
            <a:spLocks noGrp="1"/>
          </p:cNvSpPr>
          <p:nvPr>
            <p:ph idx="1"/>
          </p:nvPr>
        </p:nvSpPr>
        <p:spPr>
          <a:xfrm>
            <a:off x="677334" y="963562"/>
            <a:ext cx="8596668" cy="5584722"/>
          </a:xfrm>
        </p:spPr>
        <p:txBody>
          <a:bodyPr>
            <a:normAutofit/>
          </a:bodyPr>
          <a:lstStyle/>
          <a:p>
            <a:r>
              <a:rPr lang="en-US" sz="2000" dirty="0">
                <a:latin typeface="Times New Roman" panose="02020603050405020304" pitchFamily="18" charset="0"/>
                <a:cs typeface="Times New Roman" panose="02020603050405020304" pitchFamily="18" charset="0"/>
              </a:rPr>
              <a:t>The proposed solution is an AI-driven, web-based scheduling system built with Django and MySQL that automates timetable generation. Users can input data such as:</a:t>
            </a:r>
          </a:p>
          <a:p>
            <a:r>
              <a:rPr lang="en-US" sz="2000" dirty="0">
                <a:latin typeface="Times New Roman" panose="02020603050405020304" pitchFamily="18" charset="0"/>
                <a:cs typeface="Times New Roman" panose="02020603050405020304" pitchFamily="18" charset="0"/>
              </a:rPr>
              <a:t>Course names and codes.</a:t>
            </a:r>
          </a:p>
          <a:p>
            <a:r>
              <a:rPr lang="en-US" sz="2000" dirty="0">
                <a:latin typeface="Times New Roman" panose="02020603050405020304" pitchFamily="18" charset="0"/>
                <a:cs typeface="Times New Roman" panose="02020603050405020304" pitchFamily="18" charset="0"/>
              </a:rPr>
              <a:t>Faculty information and availability.</a:t>
            </a:r>
          </a:p>
          <a:p>
            <a:r>
              <a:rPr lang="en-US" sz="2000" dirty="0">
                <a:latin typeface="Times New Roman" panose="02020603050405020304" pitchFamily="18" charset="0"/>
                <a:cs typeface="Times New Roman" panose="02020603050405020304" pitchFamily="18" charset="0"/>
              </a:rPr>
              <a:t>Classroom numbers and capacities.</a:t>
            </a:r>
          </a:p>
          <a:p>
            <a:r>
              <a:rPr lang="en-US" sz="2000" dirty="0">
                <a:latin typeface="Times New Roman" panose="02020603050405020304" pitchFamily="18" charset="0"/>
                <a:cs typeface="Times New Roman" panose="02020603050405020304" pitchFamily="18" charset="0"/>
              </a:rPr>
              <a:t>Duration of lectures/labs.</a:t>
            </a:r>
          </a:p>
          <a:p>
            <a:r>
              <a:rPr lang="en-US" sz="2000" dirty="0">
                <a:latin typeface="Times New Roman" panose="02020603050405020304" pitchFamily="18" charset="0"/>
                <a:cs typeface="Times New Roman" panose="02020603050405020304" pitchFamily="18" charset="0"/>
              </a:rPr>
              <a:t>The AI module applies rule-based or heuristic optimization algorithms to generate conflict-free schedules automatically. Users can visualize, modify, and export the generated timetable via a responsive frontend interface.</a:t>
            </a:r>
            <a:br>
              <a:rPr lang="en-US" sz="2400" dirty="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4087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4358C-E966-F22A-011C-653423A16647}"/>
              </a:ext>
            </a:extLst>
          </p:cNvPr>
          <p:cNvSpPr>
            <a:spLocks noGrp="1"/>
          </p:cNvSpPr>
          <p:nvPr>
            <p:ph type="title"/>
          </p:nvPr>
        </p:nvSpPr>
        <p:spPr>
          <a:xfrm>
            <a:off x="677334" y="265471"/>
            <a:ext cx="8596668" cy="678426"/>
          </a:xfrm>
        </p:spPr>
        <p:txBody>
          <a:bodyPr/>
          <a:lstStyle/>
          <a:p>
            <a:r>
              <a:rPr lang="en-US" dirty="0">
                <a:latin typeface="Times New Roman" panose="02020603050405020304" pitchFamily="18" charset="0"/>
                <a:cs typeface="Times New Roman" panose="02020603050405020304" pitchFamily="18" charset="0"/>
              </a:rPr>
              <a:t>5. Functional Requirements</a:t>
            </a:r>
          </a:p>
        </p:txBody>
      </p:sp>
      <p:sp>
        <p:nvSpPr>
          <p:cNvPr id="3" name="Content Placeholder 2">
            <a:extLst>
              <a:ext uri="{FF2B5EF4-FFF2-40B4-BE49-F238E27FC236}">
                <a16:creationId xmlns:a16="http://schemas.microsoft.com/office/drawing/2014/main" id="{0782D8B4-E7A3-29DB-107B-FEC8E956869F}"/>
              </a:ext>
            </a:extLst>
          </p:cNvPr>
          <p:cNvSpPr>
            <a:spLocks noGrp="1"/>
          </p:cNvSpPr>
          <p:nvPr>
            <p:ph idx="1"/>
          </p:nvPr>
        </p:nvSpPr>
        <p:spPr>
          <a:xfrm>
            <a:off x="677334" y="943897"/>
            <a:ext cx="8596668" cy="5791200"/>
          </a:xfrm>
        </p:spPr>
        <p:txBody>
          <a:bodyPr>
            <a:normAutofit/>
          </a:bodyPr>
          <a:lstStyle/>
          <a:p>
            <a:r>
              <a:rPr lang="en-US" sz="2400" dirty="0">
                <a:latin typeface="Times New Roman" panose="02020603050405020304" pitchFamily="18" charset="0"/>
                <a:cs typeface="Times New Roman" panose="02020603050405020304" pitchFamily="18" charset="0"/>
              </a:rPr>
              <a:t>Faculty registration and login.</a:t>
            </a:r>
          </a:p>
          <a:p>
            <a:r>
              <a:rPr lang="en-US" sz="2400" dirty="0">
                <a:latin typeface="Times New Roman" panose="02020603050405020304" pitchFamily="18" charset="0"/>
                <a:cs typeface="Times New Roman" panose="02020603050405020304" pitchFamily="18" charset="0"/>
              </a:rPr>
              <a:t>Course management (add, update, delete).</a:t>
            </a:r>
          </a:p>
          <a:p>
            <a:r>
              <a:rPr lang="en-US" sz="2400" dirty="0">
                <a:latin typeface="Times New Roman" panose="02020603050405020304" pitchFamily="18" charset="0"/>
                <a:cs typeface="Times New Roman" panose="02020603050405020304" pitchFamily="18" charset="0"/>
              </a:rPr>
              <a:t>Intelligent timetable generation.</a:t>
            </a:r>
          </a:p>
          <a:p>
            <a:r>
              <a:rPr lang="en-US" sz="2400" dirty="0">
                <a:latin typeface="Times New Roman" panose="02020603050405020304" pitchFamily="18" charset="0"/>
                <a:cs typeface="Times New Roman" panose="02020603050405020304" pitchFamily="18" charset="0"/>
              </a:rPr>
              <a:t>Constraint handling (faculty unavailability, lunch hours, restricted times).</a:t>
            </a:r>
          </a:p>
          <a:p>
            <a:r>
              <a:rPr lang="en-US" sz="2400" dirty="0">
                <a:latin typeface="Times New Roman" panose="02020603050405020304" pitchFamily="18" charset="0"/>
                <a:cs typeface="Times New Roman" panose="02020603050405020304" pitchFamily="18" charset="0"/>
              </a:rPr>
              <a:t>Manual adjustment of generated timetables.</a:t>
            </a:r>
          </a:p>
          <a:p>
            <a:r>
              <a:rPr lang="en-US" sz="2400" dirty="0">
                <a:latin typeface="Times New Roman" panose="02020603050405020304" pitchFamily="18" charset="0"/>
                <a:cs typeface="Times New Roman" panose="02020603050405020304" pitchFamily="18" charset="0"/>
              </a:rPr>
              <a:t>Export and print schedules.</a:t>
            </a:r>
          </a:p>
          <a:p>
            <a:r>
              <a:rPr lang="en-US" sz="2400" dirty="0">
                <a:latin typeface="Times New Roman" panose="02020603050405020304" pitchFamily="18" charset="0"/>
                <a:cs typeface="Times New Roman" panose="02020603050405020304" pitchFamily="18" charset="0"/>
              </a:rPr>
              <a:t>Admin dashboard for allocation management.</a:t>
            </a:r>
          </a:p>
          <a:p>
            <a:r>
              <a:rPr lang="en-US" sz="2400" dirty="0">
                <a:latin typeface="Times New Roman" panose="02020603050405020304" pitchFamily="18" charset="0"/>
                <a:cs typeface="Times New Roman" panose="02020603050405020304" pitchFamily="18" charset="0"/>
              </a:rPr>
              <a:t>Data backup and version control.</a:t>
            </a:r>
          </a:p>
        </p:txBody>
      </p:sp>
    </p:spTree>
    <p:extLst>
      <p:ext uri="{BB962C8B-B14F-4D97-AF65-F5344CB8AC3E}">
        <p14:creationId xmlns:p14="http://schemas.microsoft.com/office/powerpoint/2010/main" val="192739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85949-224D-DC38-D1DF-A50B2F12BEBB}"/>
              </a:ext>
            </a:extLst>
          </p:cNvPr>
          <p:cNvSpPr>
            <a:spLocks noGrp="1"/>
          </p:cNvSpPr>
          <p:nvPr>
            <p:ph type="title"/>
          </p:nvPr>
        </p:nvSpPr>
        <p:spPr>
          <a:xfrm>
            <a:off x="677334" y="452844"/>
            <a:ext cx="8596668" cy="727587"/>
          </a:xfrm>
        </p:spPr>
        <p:txBody>
          <a:bodyPr/>
          <a:lstStyle/>
          <a:p>
            <a:r>
              <a:rPr lang="en-US" dirty="0">
                <a:latin typeface="Times New Roman" panose="02020603050405020304" pitchFamily="18" charset="0"/>
                <a:cs typeface="Times New Roman" panose="02020603050405020304" pitchFamily="18" charset="0"/>
              </a:rPr>
              <a:t>6. Non‑Functional Requirements</a:t>
            </a:r>
          </a:p>
        </p:txBody>
      </p:sp>
      <p:sp>
        <p:nvSpPr>
          <p:cNvPr id="3" name="Content Placeholder 2">
            <a:extLst>
              <a:ext uri="{FF2B5EF4-FFF2-40B4-BE49-F238E27FC236}">
                <a16:creationId xmlns:a16="http://schemas.microsoft.com/office/drawing/2014/main" id="{EB131437-529A-8124-8609-E8F673E47DE4}"/>
              </a:ext>
            </a:extLst>
          </p:cNvPr>
          <p:cNvSpPr>
            <a:spLocks noGrp="1"/>
          </p:cNvSpPr>
          <p:nvPr>
            <p:ph idx="1"/>
          </p:nvPr>
        </p:nvSpPr>
        <p:spPr>
          <a:xfrm>
            <a:off x="677334" y="1217252"/>
            <a:ext cx="8596668" cy="5498180"/>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Hardware</a:t>
            </a:r>
          </a:p>
          <a:p>
            <a:r>
              <a:rPr lang="en-US" sz="2000" dirty="0">
                <a:latin typeface="Times New Roman" panose="02020603050405020304" pitchFamily="18" charset="0"/>
                <a:cs typeface="Times New Roman" panose="02020603050405020304" pitchFamily="18" charset="0"/>
              </a:rPr>
              <a:t>Processor: Intel Core i5 or above.</a:t>
            </a:r>
          </a:p>
          <a:p>
            <a:r>
              <a:rPr lang="en-US" sz="2000" dirty="0">
                <a:latin typeface="Times New Roman" panose="02020603050405020304" pitchFamily="18" charset="0"/>
                <a:cs typeface="Times New Roman" panose="02020603050405020304" pitchFamily="18" charset="0"/>
              </a:rPr>
              <a:t>RAM: Minimum 8 GB.</a:t>
            </a:r>
          </a:p>
          <a:p>
            <a:r>
              <a:rPr lang="en-US" sz="2000" dirty="0">
                <a:latin typeface="Times New Roman" panose="02020603050405020304" pitchFamily="18" charset="0"/>
                <a:cs typeface="Times New Roman" panose="02020603050405020304" pitchFamily="18" charset="0"/>
              </a:rPr>
              <a:t>Storage: 250 GB or higher.</a:t>
            </a:r>
          </a:p>
          <a:p>
            <a:r>
              <a:rPr lang="en-US" sz="2000" dirty="0">
                <a:latin typeface="Times New Roman" panose="02020603050405020304" pitchFamily="18" charset="0"/>
                <a:cs typeface="Times New Roman" panose="02020603050405020304" pitchFamily="18" charset="0"/>
              </a:rPr>
              <a:t>Network: Local/intranet support.</a:t>
            </a:r>
          </a:p>
          <a:p>
            <a:pPr marL="0" indent="0">
              <a:buNone/>
            </a:pPr>
            <a:r>
              <a:rPr lang="en-US" sz="2000" dirty="0">
                <a:latin typeface="Times New Roman" panose="02020603050405020304" pitchFamily="18" charset="0"/>
                <a:cs typeface="Times New Roman" panose="02020603050405020304" pitchFamily="18" charset="0"/>
              </a:rPr>
              <a:t>Software</a:t>
            </a:r>
          </a:p>
          <a:p>
            <a:r>
              <a:rPr lang="en-US" sz="2000" dirty="0">
                <a:latin typeface="Times New Roman" panose="02020603050405020304" pitchFamily="18" charset="0"/>
                <a:cs typeface="Times New Roman" panose="02020603050405020304" pitchFamily="18" charset="0"/>
              </a:rPr>
              <a:t>Operating System: Windows / Linux / macOS.</a:t>
            </a:r>
          </a:p>
          <a:p>
            <a:r>
              <a:rPr lang="en-US" sz="2000" dirty="0">
                <a:latin typeface="Times New Roman" panose="02020603050405020304" pitchFamily="18" charset="0"/>
                <a:cs typeface="Times New Roman" panose="02020603050405020304" pitchFamily="18" charset="0"/>
              </a:rPr>
              <a:t>Framework: Django 5.0+.</a:t>
            </a:r>
          </a:p>
          <a:p>
            <a:r>
              <a:rPr lang="en-US" sz="2000" dirty="0">
                <a:latin typeface="Times New Roman" panose="02020603050405020304" pitchFamily="18" charset="0"/>
                <a:cs typeface="Times New Roman" panose="02020603050405020304" pitchFamily="18" charset="0"/>
              </a:rPr>
              <a:t>Backend: Python 3.12+, MySQL 8.0+.</a:t>
            </a:r>
          </a:p>
          <a:p>
            <a:r>
              <a:rPr lang="en-US" sz="2000" dirty="0">
                <a:latin typeface="Times New Roman" panose="02020603050405020304" pitchFamily="18" charset="0"/>
                <a:cs typeface="Times New Roman" panose="02020603050405020304" pitchFamily="18" charset="0"/>
              </a:rPr>
              <a:t>Frontend: HTML5, CSS3, JavaScript (with AJAX).</a:t>
            </a:r>
          </a:p>
          <a:p>
            <a:r>
              <a:rPr lang="en-US" sz="2000" dirty="0">
                <a:latin typeface="Times New Roman" panose="02020603050405020304" pitchFamily="18" charset="0"/>
                <a:cs typeface="Times New Roman" panose="02020603050405020304" pitchFamily="18" charset="0"/>
              </a:rPr>
              <a:t>AI/Logic Libraries: NumPy, Pandas, Scikit-learn (optional).</a:t>
            </a:r>
          </a:p>
          <a:p>
            <a:r>
              <a:rPr lang="en-US" sz="2000" dirty="0">
                <a:latin typeface="Times New Roman" panose="02020603050405020304" pitchFamily="18" charset="0"/>
                <a:cs typeface="Times New Roman" panose="02020603050405020304" pitchFamily="18" charset="0"/>
              </a:rPr>
              <a:t>IDE: VS Code / PyCharm</a:t>
            </a:r>
          </a:p>
        </p:txBody>
      </p:sp>
    </p:spTree>
    <p:extLst>
      <p:ext uri="{BB962C8B-B14F-4D97-AF65-F5344CB8AC3E}">
        <p14:creationId xmlns:p14="http://schemas.microsoft.com/office/powerpoint/2010/main" val="1836602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F6CAC-9770-142E-4065-F8CA0E69F7A4}"/>
              </a:ext>
            </a:extLst>
          </p:cNvPr>
          <p:cNvSpPr>
            <a:spLocks noGrp="1"/>
          </p:cNvSpPr>
          <p:nvPr>
            <p:ph type="title"/>
          </p:nvPr>
        </p:nvSpPr>
        <p:spPr>
          <a:xfrm>
            <a:off x="677334" y="353962"/>
            <a:ext cx="8596668" cy="707922"/>
          </a:xfrm>
        </p:spPr>
        <p:txBody>
          <a:bodyPr>
            <a:noAutofit/>
          </a:bodyPr>
          <a:lstStyle/>
          <a:p>
            <a:r>
              <a:rPr lang="en-US" dirty="0">
                <a:latin typeface="Times New Roman" panose="02020603050405020304" pitchFamily="18" charset="0"/>
                <a:cs typeface="Times New Roman" panose="02020603050405020304" pitchFamily="18" charset="0"/>
              </a:rPr>
              <a:t>7. System Design – Architecture</a:t>
            </a:r>
          </a:p>
        </p:txBody>
      </p:sp>
      <p:sp>
        <p:nvSpPr>
          <p:cNvPr id="3" name="Content Placeholder 2">
            <a:extLst>
              <a:ext uri="{FF2B5EF4-FFF2-40B4-BE49-F238E27FC236}">
                <a16:creationId xmlns:a16="http://schemas.microsoft.com/office/drawing/2014/main" id="{7985A7D8-6C54-37A1-8666-8B66A654EB5A}"/>
              </a:ext>
            </a:extLst>
          </p:cNvPr>
          <p:cNvSpPr>
            <a:spLocks noGrp="1"/>
          </p:cNvSpPr>
          <p:nvPr>
            <p:ph idx="1"/>
          </p:nvPr>
        </p:nvSpPr>
        <p:spPr>
          <a:xfrm>
            <a:off x="677334" y="1061885"/>
            <a:ext cx="8596668" cy="4979478"/>
          </a:xfrm>
        </p:spPr>
        <p:txBody>
          <a:bodyPr/>
          <a:lstStyle/>
          <a:p>
            <a:r>
              <a:rPr lang="en-US" dirty="0">
                <a:latin typeface="Times New Roman" panose="02020603050405020304" pitchFamily="18" charset="0"/>
                <a:cs typeface="Times New Roman" panose="02020603050405020304" pitchFamily="18" charset="0"/>
              </a:rPr>
              <a:t>Architecture Overview:</a:t>
            </a:r>
          </a:p>
          <a:p>
            <a:r>
              <a:rPr lang="en-US" dirty="0">
                <a:latin typeface="Times New Roman" panose="02020603050405020304" pitchFamily="18" charset="0"/>
                <a:cs typeface="Times New Roman" panose="02020603050405020304" pitchFamily="18" charset="0"/>
              </a:rPr>
              <a:t>Frontend Layer: User interacts via browser (HTML/CSS/JS).</a:t>
            </a:r>
          </a:p>
          <a:p>
            <a:r>
              <a:rPr lang="en-US" dirty="0">
                <a:latin typeface="Times New Roman" panose="02020603050405020304" pitchFamily="18" charset="0"/>
                <a:cs typeface="Times New Roman" panose="02020603050405020304" pitchFamily="18" charset="0"/>
              </a:rPr>
              <a:t>Backend Layer: Django handles business logic, AI scheduling algorithms, and communication with database.</a:t>
            </a:r>
          </a:p>
          <a:p>
            <a:r>
              <a:rPr lang="en-US" dirty="0">
                <a:latin typeface="Times New Roman" panose="02020603050405020304" pitchFamily="18" charset="0"/>
                <a:cs typeface="Times New Roman" panose="02020603050405020304" pitchFamily="18" charset="0"/>
              </a:rPr>
              <a:t>Database Layer: MySQL stores details of faculties, courses, schedules, and configurations.</a:t>
            </a:r>
          </a:p>
          <a:p>
            <a:r>
              <a:rPr lang="en-US" dirty="0">
                <a:latin typeface="Times New Roman" panose="02020603050405020304" pitchFamily="18" charset="0"/>
                <a:cs typeface="Times New Roman" panose="02020603050405020304" pitchFamily="18" charset="0"/>
              </a:rPr>
              <a:t>Data Flow: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User inputs → Django views → Scheduling module → Database updates → Generated timetable rendered on frontend.</a:t>
            </a:r>
          </a:p>
        </p:txBody>
      </p:sp>
      <p:pic>
        <p:nvPicPr>
          <p:cNvPr id="1026" name="Picture 2" descr="Architecture diagram of AI-powered class scheduling system">
            <a:extLst>
              <a:ext uri="{FF2B5EF4-FFF2-40B4-BE49-F238E27FC236}">
                <a16:creationId xmlns:a16="http://schemas.microsoft.com/office/drawing/2014/main" id="{FA5B0A6F-E6A9-4576-AE19-78ADD5940E4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192" b="19206"/>
          <a:stretch>
            <a:fillRect/>
          </a:stretch>
        </p:blipFill>
        <p:spPr bwMode="auto">
          <a:xfrm>
            <a:off x="1142374" y="4114800"/>
            <a:ext cx="8294913" cy="2525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971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CD421-4BB7-B757-4ADD-A4B6D53DFD50}"/>
              </a:ext>
            </a:extLst>
          </p:cNvPr>
          <p:cNvSpPr txBox="1">
            <a:spLocks/>
          </p:cNvSpPr>
          <p:nvPr/>
        </p:nvSpPr>
        <p:spPr>
          <a:xfrm>
            <a:off x="677334" y="353962"/>
            <a:ext cx="8596668" cy="707922"/>
          </a:xfrm>
          <a:prstGeom prst="rect">
            <a:avLst/>
          </a:prstGeom>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panose="02020603050405020304" pitchFamily="18" charset="0"/>
                <a:cs typeface="Times New Roman" panose="02020603050405020304" pitchFamily="18" charset="0"/>
              </a:rPr>
              <a:t>8. Database (ER Diagram)</a:t>
            </a:r>
          </a:p>
        </p:txBody>
      </p:sp>
      <p:sp>
        <p:nvSpPr>
          <p:cNvPr id="3" name="Content Placeholder 2">
            <a:extLst>
              <a:ext uri="{FF2B5EF4-FFF2-40B4-BE49-F238E27FC236}">
                <a16:creationId xmlns:a16="http://schemas.microsoft.com/office/drawing/2014/main" id="{11A6CF8A-016D-9B01-4820-A803D521E14E}"/>
              </a:ext>
            </a:extLst>
          </p:cNvPr>
          <p:cNvSpPr txBox="1">
            <a:spLocks/>
          </p:cNvSpPr>
          <p:nvPr/>
        </p:nvSpPr>
        <p:spPr>
          <a:xfrm>
            <a:off x="677334" y="1061885"/>
            <a:ext cx="8596668" cy="497947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latin typeface="Times New Roman" panose="02020603050405020304" pitchFamily="18" charset="0"/>
                <a:cs typeface="Times New Roman" panose="02020603050405020304" pitchFamily="18" charset="0"/>
              </a:rPr>
              <a:t>Main Entities:</a:t>
            </a:r>
          </a:p>
          <a:p>
            <a:r>
              <a:rPr lang="en-US" sz="2000" dirty="0">
                <a:latin typeface="Times New Roman" panose="02020603050405020304" pitchFamily="18" charset="0"/>
                <a:cs typeface="Times New Roman" panose="02020603050405020304" pitchFamily="18" charset="0"/>
              </a:rPr>
              <a:t>Faculty (</a:t>
            </a:r>
            <a:r>
              <a:rPr lang="en-US" sz="2000" dirty="0" err="1">
                <a:latin typeface="Times New Roman" panose="02020603050405020304" pitchFamily="18" charset="0"/>
                <a:cs typeface="Times New Roman" panose="02020603050405020304" pitchFamily="18" charset="0"/>
              </a:rPr>
              <a:t>faculty_id</a:t>
            </a:r>
            <a:r>
              <a:rPr lang="en-US" sz="2000" dirty="0">
                <a:latin typeface="Times New Roman" panose="02020603050405020304" pitchFamily="18" charset="0"/>
                <a:cs typeface="Times New Roman" panose="02020603050405020304" pitchFamily="18" charset="0"/>
              </a:rPr>
              <a:t>, name, availability, department)</a:t>
            </a:r>
          </a:p>
          <a:p>
            <a:r>
              <a:rPr lang="en-US" sz="2000" dirty="0">
                <a:latin typeface="Times New Roman" panose="02020603050405020304" pitchFamily="18" charset="0"/>
                <a:cs typeface="Times New Roman" panose="02020603050405020304" pitchFamily="18" charset="0"/>
              </a:rPr>
              <a:t>Course (</a:t>
            </a:r>
            <a:r>
              <a:rPr lang="en-US" sz="2000" dirty="0" err="1">
                <a:latin typeface="Times New Roman" panose="02020603050405020304" pitchFamily="18" charset="0"/>
                <a:cs typeface="Times New Roman" panose="02020603050405020304" pitchFamily="18" charset="0"/>
              </a:rPr>
              <a:t>course_id</a:t>
            </a:r>
            <a:r>
              <a:rPr lang="en-US" sz="2000" dirty="0">
                <a:latin typeface="Times New Roman" panose="02020603050405020304" pitchFamily="18" charset="0"/>
                <a:cs typeface="Times New Roman" panose="02020603050405020304" pitchFamily="18" charset="0"/>
              </a:rPr>
              <a:t>, name, duration, type)</a:t>
            </a:r>
          </a:p>
          <a:p>
            <a:r>
              <a:rPr lang="en-US" sz="2000" dirty="0">
                <a:latin typeface="Times New Roman" panose="02020603050405020304" pitchFamily="18" charset="0"/>
                <a:cs typeface="Times New Roman" panose="02020603050405020304" pitchFamily="18" charset="0"/>
              </a:rPr>
              <a:t>Classroom (</a:t>
            </a:r>
            <a:r>
              <a:rPr lang="en-US" sz="2000" dirty="0" err="1">
                <a:latin typeface="Times New Roman" panose="02020603050405020304" pitchFamily="18" charset="0"/>
                <a:cs typeface="Times New Roman" panose="02020603050405020304" pitchFamily="18" charset="0"/>
              </a:rPr>
              <a:t>room_id</a:t>
            </a:r>
            <a:r>
              <a:rPr lang="en-US" sz="2000" dirty="0">
                <a:latin typeface="Times New Roman" panose="02020603050405020304" pitchFamily="18" charset="0"/>
                <a:cs typeface="Times New Roman" panose="02020603050405020304" pitchFamily="18" charset="0"/>
              </a:rPr>
              <a:t>, type, capacity)</a:t>
            </a:r>
          </a:p>
          <a:p>
            <a:r>
              <a:rPr lang="en-US" sz="2000" dirty="0">
                <a:latin typeface="Times New Roman" panose="02020603050405020304" pitchFamily="18" charset="0"/>
                <a:cs typeface="Times New Roman" panose="02020603050405020304" pitchFamily="18" charset="0"/>
              </a:rPr>
              <a:t>Schedule (</a:t>
            </a:r>
            <a:r>
              <a:rPr lang="en-US" sz="2000" dirty="0" err="1">
                <a:latin typeface="Times New Roman" panose="02020603050405020304" pitchFamily="18" charset="0"/>
                <a:cs typeface="Times New Roman" panose="02020603050405020304" pitchFamily="18" charset="0"/>
              </a:rPr>
              <a:t>schedule_id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faculty_id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course_id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room_id</a:t>
            </a:r>
            <a:r>
              <a:rPr lang="en-US" sz="2000" dirty="0">
                <a:latin typeface="Times New Roman" panose="02020603050405020304" pitchFamily="18" charset="0"/>
                <a:cs typeface="Times New Roman" panose="02020603050405020304" pitchFamily="18" charset="0"/>
              </a:rPr>
              <a:t>, day, </a:t>
            </a:r>
            <a:r>
              <a:rPr lang="en-US" sz="2000" dirty="0" err="1">
                <a:latin typeface="Times New Roman" panose="02020603050405020304" pitchFamily="18" charset="0"/>
                <a:cs typeface="Times New Roman" panose="02020603050405020304" pitchFamily="18" charset="0"/>
              </a:rPr>
              <a:t>time_slot</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Relationships:</a:t>
            </a:r>
          </a:p>
          <a:p>
            <a:r>
              <a:rPr lang="en-US" sz="2000" dirty="0">
                <a:latin typeface="Times New Roman" panose="02020603050405020304" pitchFamily="18" charset="0"/>
                <a:cs typeface="Times New Roman" panose="02020603050405020304" pitchFamily="18" charset="0"/>
              </a:rPr>
              <a:t>Faculty teaches multiple Courses (1‑to‑many).</a:t>
            </a:r>
          </a:p>
          <a:p>
            <a:r>
              <a:rPr lang="en-US" sz="2000" dirty="0">
                <a:latin typeface="Times New Roman" panose="02020603050405020304" pitchFamily="18" charset="0"/>
                <a:cs typeface="Times New Roman" panose="02020603050405020304" pitchFamily="18" charset="0"/>
              </a:rPr>
              <a:t>Course assigned to a Classroom (1‑to‑1 or many‑to‑1).</a:t>
            </a:r>
          </a:p>
          <a:p>
            <a:r>
              <a:rPr lang="en-US" sz="2000" dirty="0">
                <a:latin typeface="Times New Roman" panose="02020603050405020304" pitchFamily="18" charset="0"/>
                <a:cs typeface="Times New Roman" panose="02020603050405020304" pitchFamily="18" charset="0"/>
              </a:rPr>
              <a:t>Schedule links Faculty, Course, and Classroom with time constraints.</a:t>
            </a:r>
          </a:p>
          <a:p>
            <a:r>
              <a:rPr lang="en-US" sz="2000" i="1" dirty="0">
                <a:latin typeface="Times New Roman" panose="02020603050405020304" pitchFamily="18" charset="0"/>
                <a:cs typeface="Times New Roman" panose="02020603050405020304" pitchFamily="18" charset="0"/>
              </a:rPr>
              <a:t>(ER Diagram visualization: faculty → course → schedule → classroom)</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8022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3D23BB-B8F3-11A9-07F4-707D838B75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9975" y="305649"/>
            <a:ext cx="7479962" cy="5856851"/>
          </a:xfrm>
          <a:prstGeom prst="rect">
            <a:avLst/>
          </a:prstGeom>
          <a:noFill/>
          <a:ln>
            <a:noFill/>
          </a:ln>
        </p:spPr>
      </p:pic>
    </p:spTree>
    <p:extLst>
      <p:ext uri="{BB962C8B-B14F-4D97-AF65-F5344CB8AC3E}">
        <p14:creationId xmlns:p14="http://schemas.microsoft.com/office/powerpoint/2010/main" val="220686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E7994-61EA-E1A5-8BFE-71749AC1AE97}"/>
              </a:ext>
            </a:extLst>
          </p:cNvPr>
          <p:cNvSpPr txBox="1">
            <a:spLocks/>
          </p:cNvSpPr>
          <p:nvPr/>
        </p:nvSpPr>
        <p:spPr>
          <a:xfrm>
            <a:off x="677334" y="353962"/>
            <a:ext cx="8596668" cy="707922"/>
          </a:xfrm>
          <a:prstGeom prst="rect">
            <a:avLst/>
          </a:prstGeom>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panose="02020603050405020304" pitchFamily="18" charset="0"/>
                <a:cs typeface="Times New Roman" panose="02020603050405020304" pitchFamily="18" charset="0"/>
              </a:rPr>
              <a:t>9. DFD Levels Flowchart</a:t>
            </a:r>
          </a:p>
        </p:txBody>
      </p:sp>
      <p:sp>
        <p:nvSpPr>
          <p:cNvPr id="3" name="Content Placeholder 2">
            <a:extLst>
              <a:ext uri="{FF2B5EF4-FFF2-40B4-BE49-F238E27FC236}">
                <a16:creationId xmlns:a16="http://schemas.microsoft.com/office/drawing/2014/main" id="{0705CE7C-2792-1BC7-147F-694691D28F56}"/>
              </a:ext>
            </a:extLst>
          </p:cNvPr>
          <p:cNvSpPr txBox="1">
            <a:spLocks/>
          </p:cNvSpPr>
          <p:nvPr/>
        </p:nvSpPr>
        <p:spPr>
          <a:xfrm>
            <a:off x="677334" y="1061885"/>
            <a:ext cx="8596668" cy="497947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dirty="0">
                <a:latin typeface="Times New Roman" panose="02020603050405020304" pitchFamily="18" charset="0"/>
                <a:cs typeface="Times New Roman" panose="02020603050405020304" pitchFamily="18" charset="0"/>
              </a:rPr>
              <a:t>Level 0 (Context Diagram):</a:t>
            </a:r>
          </a:p>
          <a:p>
            <a:r>
              <a:rPr lang="en-US" sz="2400" dirty="0">
                <a:latin typeface="Times New Roman" panose="02020603050405020304" pitchFamily="18" charset="0"/>
                <a:cs typeface="Times New Roman" panose="02020603050405020304" pitchFamily="18" charset="0"/>
              </a:rPr>
              <a:t>User → [AI Scheduling System] → Database.</a:t>
            </a:r>
            <a:endParaRPr lang="en-IN" sz="2400" dirty="0">
              <a:latin typeface="Times New Roman" panose="02020603050405020304" pitchFamily="18" charset="0"/>
              <a:cs typeface="Times New Roman" panose="02020603050405020304" pitchFamily="18" charset="0"/>
            </a:endParaRPr>
          </a:p>
        </p:txBody>
      </p:sp>
      <p:pic>
        <p:nvPicPr>
          <p:cNvPr id="6146" name="Picture 2" descr="DFD Level 0 (Context Diagram) for AI Scheduling System">
            <a:extLst>
              <a:ext uri="{FF2B5EF4-FFF2-40B4-BE49-F238E27FC236}">
                <a16:creationId xmlns:a16="http://schemas.microsoft.com/office/drawing/2014/main" id="{62A97CF8-FBFB-6D11-EA3E-971969BDAB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310" b="7093"/>
          <a:stretch>
            <a:fillRect/>
          </a:stretch>
        </p:blipFill>
        <p:spPr bwMode="auto">
          <a:xfrm>
            <a:off x="1546668" y="2220686"/>
            <a:ext cx="6858000" cy="4125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004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910ECE-7B58-A499-A7E6-9E2BAD708285}"/>
              </a:ext>
            </a:extLst>
          </p:cNvPr>
          <p:cNvSpPr txBox="1">
            <a:spLocks/>
          </p:cNvSpPr>
          <p:nvPr/>
        </p:nvSpPr>
        <p:spPr>
          <a:xfrm>
            <a:off x="677334" y="468086"/>
            <a:ext cx="8596668" cy="5573277"/>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latin typeface="Times New Roman" panose="02020603050405020304" pitchFamily="18" charset="0"/>
                <a:cs typeface="Times New Roman" panose="02020603050405020304" pitchFamily="18" charset="0"/>
              </a:rPr>
              <a:t>Level 1:</a:t>
            </a:r>
          </a:p>
          <a:p>
            <a:r>
              <a:rPr lang="en-US" sz="2000" dirty="0">
                <a:latin typeface="Times New Roman" panose="02020603050405020304" pitchFamily="18" charset="0"/>
                <a:cs typeface="Times New Roman" panose="02020603050405020304" pitchFamily="18" charset="0"/>
              </a:rPr>
              <a:t>Input Data Module (faculty, course, classrooms).</a:t>
            </a:r>
          </a:p>
          <a:p>
            <a:r>
              <a:rPr lang="en-US" sz="2000" dirty="0">
                <a:latin typeface="Times New Roman" panose="02020603050405020304" pitchFamily="18" charset="0"/>
                <a:cs typeface="Times New Roman" panose="02020603050405020304" pitchFamily="18" charset="0"/>
              </a:rPr>
              <a:t>AI Scheduling Engine (validate, optimize, assign).</a:t>
            </a:r>
          </a:p>
          <a:p>
            <a:r>
              <a:rPr lang="en-US" sz="2000" dirty="0">
                <a:latin typeface="Times New Roman" panose="02020603050405020304" pitchFamily="18" charset="0"/>
                <a:cs typeface="Times New Roman" panose="02020603050405020304" pitchFamily="18" charset="0"/>
              </a:rPr>
              <a:t>Output Module (generate timetable view/export).</a:t>
            </a:r>
          </a:p>
        </p:txBody>
      </p:sp>
      <p:pic>
        <p:nvPicPr>
          <p:cNvPr id="4098" name="Picture 2" descr="Detailed DFD Level 1 diagram with separate modules for AI class scheduling system">
            <a:extLst>
              <a:ext uri="{FF2B5EF4-FFF2-40B4-BE49-F238E27FC236}">
                <a16:creationId xmlns:a16="http://schemas.microsoft.com/office/drawing/2014/main" id="{B33238EE-D4D6-CB00-F97F-07686AE144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794" b="27619"/>
          <a:stretch>
            <a:fillRect/>
          </a:stretch>
        </p:blipFill>
        <p:spPr bwMode="auto">
          <a:xfrm>
            <a:off x="1002523" y="2405743"/>
            <a:ext cx="8271479" cy="3439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315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9B508-4D74-7DFA-9F37-168A6E5A9986}"/>
              </a:ext>
            </a:extLst>
          </p:cNvPr>
          <p:cNvSpPr>
            <a:spLocks noGrp="1"/>
          </p:cNvSpPr>
          <p:nvPr>
            <p:ph type="title"/>
          </p:nvPr>
        </p:nvSpPr>
        <p:spPr>
          <a:xfrm>
            <a:off x="677334" y="609600"/>
            <a:ext cx="8596668" cy="772886"/>
          </a:xfrm>
        </p:spPr>
        <p:txBody>
          <a:bodyPr>
            <a:normAutofit/>
          </a:bodyPr>
          <a:lstStyle/>
          <a:p>
            <a:r>
              <a:rPr lang="en-IN" b="1" dirty="0">
                <a:latin typeface="Times New Roman" panose="02020603050405020304" pitchFamily="18" charset="0"/>
                <a:cs typeface="Times New Roman" panose="02020603050405020304" pitchFamily="18" charset="0"/>
              </a:rPr>
              <a:t>Outcome</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242CF1D-BDA3-E8B3-37B9-3ED806470C4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4490" y="1382486"/>
            <a:ext cx="5731510" cy="3936766"/>
          </a:xfrm>
          <a:prstGeom prst="rect">
            <a:avLst/>
          </a:prstGeom>
          <a:noFill/>
          <a:ln>
            <a:noFill/>
          </a:ln>
        </p:spPr>
      </p:pic>
      <p:pic>
        <p:nvPicPr>
          <p:cNvPr id="5" name="Picture 4">
            <a:extLst>
              <a:ext uri="{FF2B5EF4-FFF2-40B4-BE49-F238E27FC236}">
                <a16:creationId xmlns:a16="http://schemas.microsoft.com/office/drawing/2014/main" id="{48CE2945-D3DB-3A84-0062-E393FEB2EDF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263454"/>
            <a:ext cx="5824220" cy="4055798"/>
          </a:xfrm>
          <a:prstGeom prst="rect">
            <a:avLst/>
          </a:prstGeom>
          <a:noFill/>
          <a:ln>
            <a:noFill/>
          </a:ln>
        </p:spPr>
      </p:pic>
    </p:spTree>
    <p:extLst>
      <p:ext uri="{BB962C8B-B14F-4D97-AF65-F5344CB8AC3E}">
        <p14:creationId xmlns:p14="http://schemas.microsoft.com/office/powerpoint/2010/main" val="634650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DEC32-1654-F846-48D5-DD12A2463E71}"/>
              </a:ext>
            </a:extLst>
          </p:cNvPr>
          <p:cNvSpPr txBox="1">
            <a:spLocks/>
          </p:cNvSpPr>
          <p:nvPr/>
        </p:nvSpPr>
        <p:spPr>
          <a:xfrm>
            <a:off x="677334" y="353962"/>
            <a:ext cx="8596668" cy="707922"/>
          </a:xfrm>
          <a:prstGeom prst="rect">
            <a:avLst/>
          </a:prstGeom>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panose="02020603050405020304" pitchFamily="18" charset="0"/>
                <a:cs typeface="Times New Roman" panose="02020603050405020304" pitchFamily="18" charset="0"/>
              </a:rPr>
              <a:t>10.Conclusion</a:t>
            </a:r>
          </a:p>
        </p:txBody>
      </p:sp>
      <p:sp>
        <p:nvSpPr>
          <p:cNvPr id="3" name="Content Placeholder 2">
            <a:extLst>
              <a:ext uri="{FF2B5EF4-FFF2-40B4-BE49-F238E27FC236}">
                <a16:creationId xmlns:a16="http://schemas.microsoft.com/office/drawing/2014/main" id="{C1763364-3BD0-E53D-2F22-30D883EB0667}"/>
              </a:ext>
            </a:extLst>
          </p:cNvPr>
          <p:cNvSpPr txBox="1">
            <a:spLocks/>
          </p:cNvSpPr>
          <p:nvPr/>
        </p:nvSpPr>
        <p:spPr>
          <a:xfrm>
            <a:off x="677334" y="1061885"/>
            <a:ext cx="8596668" cy="497947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2000" dirty="0"/>
              <a:t>The AI-Powered Class Scheduling System using the Django Framework provides an efficient and intelligent solution for generating academic timetables. </a:t>
            </a:r>
          </a:p>
          <a:p>
            <a:r>
              <a:rPr lang="en-IN" sz="2000" dirty="0"/>
              <a:t>By integrating AI algorithms with a web-based interface, the system reduces manual effort, minimizes scheduling conflicts, and optimizes the use of classrooms and instructor availability. </a:t>
            </a:r>
          </a:p>
          <a:p>
            <a:r>
              <a:rPr lang="en-IN" sz="2000" dirty="0"/>
              <a:t>The modular design ensures scalability, maintainability, and ease of use for administrators, faculty, and students. </a:t>
            </a:r>
          </a:p>
          <a:p>
            <a:r>
              <a:rPr lang="en-IN" sz="2000" dirty="0"/>
              <a:t>Overall, this system enhances operational efficiency, improves academic planning, and demonstrates how modern technology can streamline complex educational processes.</a:t>
            </a:r>
          </a:p>
        </p:txBody>
      </p:sp>
    </p:spTree>
    <p:extLst>
      <p:ext uri="{BB962C8B-B14F-4D97-AF65-F5344CB8AC3E}">
        <p14:creationId xmlns:p14="http://schemas.microsoft.com/office/powerpoint/2010/main" val="330918896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357</TotalTime>
  <Words>1040</Words>
  <Application>Microsoft Office PowerPoint</Application>
  <PresentationFormat>Widescreen</PresentationFormat>
  <Paragraphs>106</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Times New Roman</vt:lpstr>
      <vt:lpstr>Trebuchet MS</vt:lpstr>
      <vt:lpstr>Wingdings 3</vt:lpstr>
      <vt:lpstr>Facet</vt:lpstr>
      <vt:lpstr>PowerPoint Presentation</vt:lpstr>
      <vt:lpstr>AI-Powered Class Scheduling System Using Django Framework</vt:lpstr>
      <vt:lpstr>PowerPoint Presentation</vt:lpstr>
      <vt:lpstr>1. Abstract</vt:lpstr>
      <vt:lpstr>2. System Analysis</vt:lpstr>
      <vt:lpstr>3. Problem Statement</vt:lpstr>
      <vt:lpstr>4. Proposed Solution</vt:lpstr>
      <vt:lpstr>5. Functional Requirements</vt:lpstr>
      <vt:lpstr>6. Non‑Functional Requirements</vt:lpstr>
      <vt:lpstr>7. System Design – Architecture</vt:lpstr>
      <vt:lpstr>PowerPoint Presentation</vt:lpstr>
      <vt:lpstr>PowerPoint Presentation</vt:lpstr>
      <vt:lpstr>PowerPoint Presentation</vt:lpstr>
      <vt:lpstr>PowerPoint Presentation</vt:lpstr>
      <vt:lpstr>Outcome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Hemanth Kumar H A</dc:creator>
  <cp:lastModifiedBy>Hemanth Kumar H A</cp:lastModifiedBy>
  <cp:revision>8</cp:revision>
  <dcterms:created xsi:type="dcterms:W3CDTF">2025-10-26T14:19:49Z</dcterms:created>
  <dcterms:modified xsi:type="dcterms:W3CDTF">2025-12-29T16:42:52Z</dcterms:modified>
</cp:coreProperties>
</file>